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Success Rate by Orbit Type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by Orbit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8CAE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0E0E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GTO</c:v>
                  </c:pt>
                  <c:pt idx="1">
                    <c:v>ISS</c:v>
                  </c:pt>
                  <c:pt idx="2">
                    <c:v>VLEO</c:v>
                  </c:pt>
                  <c:pt idx="3">
                    <c:v>PO</c:v>
                  </c:pt>
                  <c:pt idx="4">
                    <c:v>LEO</c:v>
                  </c:pt>
                  <c:pt idx="5">
                    <c:v>SSO</c:v>
                  </c:pt>
                  <c:pt idx="6">
                    <c:v>MEO</c:v>
                  </c:pt>
                  <c:pt idx="7">
                    <c:v>HEO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</c:v>
                </c:pt>
                <c:pt idx="1">
                  <c:v>77</c:v>
                </c:pt>
                <c:pt idx="2">
                  <c:v>100</c:v>
                </c:pt>
                <c:pt idx="3">
                  <c:v>88</c:v>
                </c:pt>
                <c:pt idx="4">
                  <c:v>66</c:v>
                </c:pt>
                <c:pt idx="5">
                  <c:v>100</c:v>
                </c:pt>
                <c:pt idx="6">
                  <c:v>100</c:v>
                </c:pt>
                <c:pt idx="7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Success Rate by Site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8CAE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E0E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DE8F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CCAFS
LC-40</c:v>
                  </c:pt>
                  <c:pt idx="1">
                    <c:v>CCAFS
SLC-40</c:v>
                  </c:pt>
                  <c:pt idx="2">
                    <c:v>KSC
LC-39A</c:v>
                  </c:pt>
                  <c:pt idx="3">
                    <c:v>VAFB
SLC-4E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73</c:v>
                </c:pt>
                <c:pt idx="2">
                  <c:v>77</c:v>
                </c:pt>
                <c:pt idx="3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Landing Success Rate Over Time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00B4D8"/>
            </a:solidFill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2010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100</c:v>
                </c:pt>
                <c:pt idx="3">
                  <c:v>50</c:v>
                </c:pt>
                <c:pt idx="4">
                  <c:v>40</c:v>
                </c:pt>
                <c:pt idx="5">
                  <c:v>60</c:v>
                </c:pt>
                <c:pt idx="6">
                  <c:v>78</c:v>
                </c:pt>
                <c:pt idx="7">
                  <c:v>80</c:v>
                </c:pt>
                <c:pt idx="8">
                  <c:v>90</c:v>
                </c:pt>
                <c:pt idx="9">
                  <c:v>93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Mission Outcomes — All Sites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Success (60%)</c:v>
                </c:pt>
                <c:pt idx="1">
                  <c:v>Failure (40%)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Payload vs. Landing Outcome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rgbClr val="00B4D8"/>
            </a:solidFill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1000</c:v>
                </c:pt>
                <c:pt idx="1">
                  <c:v>3000</c:v>
                </c:pt>
                <c:pt idx="2">
                  <c:v>5000</c:v>
                </c:pt>
                <c:pt idx="3">
                  <c:v>6000</c:v>
                </c:pt>
                <c:pt idx="4">
                  <c:v>2000</c:v>
                </c:pt>
                <c:pt idx="5">
                  <c:v>8000</c:v>
                </c:pt>
                <c:pt idx="6">
                  <c:v>9600</c:v>
                </c:pt>
                <c:pt idx="7">
                  <c:v>4500</c:v>
                </c:pt>
                <c:pt idx="8">
                  <c:v>7000</c:v>
                </c:pt>
                <c:pt idx="9">
                  <c:v>1500</c:v>
                </c:pt>
                <c:pt idx="10">
                  <c:v>3500</c:v>
                </c:pt>
                <c:pt idx="11">
                  <c:v>5500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1000</c:v>
                </c:pt>
                <c:pt idx="1">
                  <c:v>3000</c:v>
                </c:pt>
                <c:pt idx="2">
                  <c:v>5000</c:v>
                </c:pt>
                <c:pt idx="3">
                  <c:v>6000</c:v>
                </c:pt>
                <c:pt idx="4">
                  <c:v>2000</c:v>
                </c:pt>
                <c:pt idx="5">
                  <c:v>8000</c:v>
                </c:pt>
                <c:pt idx="6">
                  <c:v>9600</c:v>
                </c:pt>
                <c:pt idx="7">
                  <c:v>4500</c:v>
                </c:pt>
                <c:pt idx="8">
                  <c:v>7000</c:v>
                </c:pt>
                <c:pt idx="9">
                  <c:v>1500</c:v>
                </c:pt>
                <c:pt idx="10">
                  <c:v>3500</c:v>
                </c:pt>
                <c:pt idx="11">
                  <c:v>5500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Model 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SVM</c:v>
                  </c:pt>
                  <c:pt idx="2">
                    <c:v>Decision
Tree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</c:v>
                </c:pt>
                <c:pt idx="1">
                  <c:v>83.3</c:v>
                </c:pt>
                <c:pt idx="2">
                  <c:v>83.3</c:v>
                </c:pt>
                <c:pt idx="3">
                  <c:v>83.3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Cross-Validation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SVM</c:v>
                  </c:pt>
                  <c:pt idx="2">
                    <c:v>Decision
Tree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84.7</c:v>
                </c:pt>
                <c:pt idx="1">
                  <c:v>85.1</c:v>
                </c:pt>
                <c:pt idx="2">
                  <c:v>87.5</c:v>
                </c:pt>
                <c:pt idx="3">
                  <c:v>82.3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8288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73152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27432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91440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45720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09728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4320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411480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347472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320040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01168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457200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560320"/>
            <a:ext cx="45720" cy="4572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457200"/>
            <a:ext cx="411480" cy="2194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90688" y="384048"/>
            <a:ext cx="54864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17536" y="2194560"/>
            <a:ext cx="164592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2194560"/>
            <a:ext cx="164592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82128" y="2651760"/>
            <a:ext cx="365760" cy="320040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554480"/>
            <a:ext cx="73152" cy="2103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14173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5800" y="2103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 Landing Prediction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580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· Applied Capstone Project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337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predict booster reuse and optimize launch costs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2A40"/>
          </a:solidFill>
          <a:ln w="12700">
            <a:solidFill>
              <a:srgbClr val="1B2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617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Cost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8880" y="4617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$165M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68880" y="4846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Rocket Cost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4617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0" y="4846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Rate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4617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75120" y="4846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Analyzed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17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SpaceX's Falcon 9 first-stage booster will successfully land, enabling cost estimation for competing launch providers.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1440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5192" y="1417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API, Wikipedia web scraping — 90 launches with 17+ features including orbit type, payload mass, launch site, and booster version.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Methodology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2461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science pipeline: collection → wrangling → EDA (visual &amp; SQL) → interactive analytics → classification model development.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74320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Result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5192" y="32461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SVM achieved 83.3% test accuracy. KNN and Logistic Regression followed closely. All models outperformed baseline.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landing prediction enables competitive pricing strategies for the emerging commercial launch market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754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$62M — far below competitors at $165M+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cost driver: reusable first-stage boosters that land and fly again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booster fails to land, the launch costs significantly more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competing company can use landing predictions to make informed bids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classifier to predict landing success probability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49240" y="822960"/>
            <a:ext cx="34290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40680" y="914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Cost Comparison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3616269"/>
            <a:ext cx="685800" cy="544251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3341949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32120" y="418795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(Reused)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583680" y="2712110"/>
            <a:ext cx="685800" cy="144841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43779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$165M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0" y="418795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635240" y="2317090"/>
            <a:ext cx="685800" cy="184343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204277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35240" y="418795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40680" y="4187952"/>
            <a:ext cx="3063240" cy="0"/>
          </a:xfrm>
          <a:prstGeom prst="line">
            <a:avLst/>
          </a:prstGeom>
          <a:noFill/>
          <a:ln w="12700">
            <a:solidFill>
              <a:srgbClr val="90AFC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Wrangling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82880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/launches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DataFrame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12848" y="1298448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868680"/>
            <a:ext cx="18288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2618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tables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15968" y="1298448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182880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2618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labels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19088" y="1298448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868680"/>
            <a:ext cx="18288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2618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10312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103120"/>
            <a:ext cx="73152" cy="2560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257860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Falcon 9 launches (2010–2020)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raw features per launch record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Class — 1 (landed) / 0 (failed)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~66.7% success rate in training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unique launch sites globally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10312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103120"/>
            <a:ext cx="73152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Wrangling Steps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578608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only Falcon 9 (removed Falcon 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PayloadMass nulls with column mean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binary landing outcome column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encoded: Orbit, LaunchSite, LandingPad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features with StandardScaler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Interactive Visual Analytics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aggregations on launch DB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site, orbit, year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outcomes &amp; payload ranges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operations for enrichment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6868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Matplotlib / Seaborn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30759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payload vs. success rate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Bar: launch site frequency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charts: orbit distribution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Heatmaps: feature correlations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Folium Maps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6499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launch site map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 (coast, city, rail)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markers + popups per site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layers for density 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92608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Plotly Dash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36499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Dropdown: site-filtered pie charts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RangeSlider: payload mass filter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payload vs. outcome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Callback-driven interactivity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828800" cy="640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C, max_iter, solver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82880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22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C, kernel, gamma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828800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22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max_depth, criterion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75120" y="822960"/>
            <a:ext cx="18288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822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n_neighbors, metric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05740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Train/Test Split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preserve class ratio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0" y="205740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Hyperparameter Tuning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10-fold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05740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Evaluation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Jaccard,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F1-score, Log Loss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2057400"/>
            <a:ext cx="1828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Confusion Matrix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visualized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TP/FP/TN/FN breakdown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Used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114800"/>
            <a:ext cx="19202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160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4074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68880" y="4114800"/>
            <a:ext cx="19202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60320" y="4160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Score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44074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/ Union of predicted and actual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4114800"/>
            <a:ext cx="19202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63440" y="4160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44074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75120" y="4114800"/>
            <a:ext cx="19202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66560" y="4160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44074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Probability-based scoring for classifiers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Visualization — Results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029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394960" y="777240"/>
          <a:ext cx="34290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274320" y="301752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5394960" y="3017520"/>
            <a:ext cx="342900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5532120" y="3108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532120" y="347472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VLEO &amp; SSO orbits: 100% success rate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is the highest-success site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improved dramatically post-2016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payloads correlate with lower success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—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3931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384048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Launch_Site FROM SPACEXTABLE;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93192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992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CCAFS LC-40 | VAFB SLC-4E | KSC LC-39A | CCAFS SLC-40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393192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4 unique launch sites found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932688"/>
            <a:ext cx="3931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50976"/>
            <a:ext cx="384048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Launch_Site, COUNT(*) as Total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SPACEXTABLE GROUP BY Launch_Site;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1691640"/>
            <a:ext cx="393192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70992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CCAFS LC-40: 26 | KSC LC-39A: 13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SLC-4E: 13 | CCAFS SLC-40: 38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331720"/>
            <a:ext cx="393192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CCAFS SLC-40 is most used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35808"/>
            <a:ext cx="3931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54096"/>
            <a:ext cx="384048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SUM(PAYLOAD_MASS__KG_) as Total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 = 'NASA (CRS)';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393192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1304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45,596 KG total payload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orbit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434840"/>
            <a:ext cx="393192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NASA CRS is top customer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035808"/>
            <a:ext cx="3931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054096"/>
            <a:ext cx="384048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AVG(PAYLOAD_MASS__KG_)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Booster_Version LIKE 'F9 v1.1%';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3794760"/>
            <a:ext cx="393192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81304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Average: 2,534 KG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(v1.1 booster generation)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4434840"/>
            <a:ext cx="393192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Lower payload era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— Advanced Queries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by Max Payload (SQL Result)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920240"/>
                <a:gridCol w="182880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Payload (KG)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Landings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Orbit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(CRS)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GTO / LEO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Iridium NEXT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Intelsat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200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SQL Findings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3611880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630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Failed landings in drone ship in 2015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51960" y="36301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failures — early drone ship testing phase; significant improvement since 2017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087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Successful ground pad landings with payload &gt; 4000 KG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51960" y="40873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Booster v1.2 and FT series; ~73% success rate for heavy ground pad landings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4544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F9 FT boosters with drone-ship landings in 2015–2016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251960" y="45445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launches matched — critical learning period for autonomous drone ship technology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with Folium —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486400" cy="3200400"/>
          </a:xfrm>
          <a:prstGeom prst="rect">
            <a:avLst/>
          </a:prstGeom>
          <a:solidFill>
            <a:srgbClr val="D0E8F2"/>
          </a:solidFill>
          <a:ln w="12700">
            <a:solidFill>
              <a:srgbClr val="90AF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00" cy="3200400"/>
          </a:xfrm>
          <a:prstGeom prst="rect">
            <a:avLst/>
          </a:prstGeom>
          <a:solidFill>
            <a:srgbClr val="B8D4E8">
              <a:alpha val="60000"/>
            </a:srgbClr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Interactive Launch Site Map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200400" cy="2286000"/>
          </a:xfrm>
          <a:prstGeom prst="rect">
            <a:avLst/>
          </a:prstGeom>
          <a:solidFill>
            <a:srgbClr val="C8E6C9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33472" y="1993392"/>
            <a:ext cx="219456" cy="219456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99339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42032" y="2176272"/>
            <a:ext cx="219456" cy="219456"/>
          </a:xfrm>
          <a:prstGeom prst="ellipse">
            <a:avLst/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17627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LC-40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24912" y="2359152"/>
            <a:ext cx="219456" cy="21945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3591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4672" y="1719072"/>
            <a:ext cx="219456" cy="219456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71907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3566160"/>
            <a:ext cx="2011680" cy="3200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90AF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844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High  🔵 Mid  🟡 Upper-mid  🔴 Lower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0" y="822960"/>
            <a:ext cx="2880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822960"/>
            <a:ext cx="2880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82296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 Findings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123444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sites within 20km of coastline (ocean recovery)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LC-39A: 0.9 km from nearest highway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avoid populated areas by 20–50 km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is isolated — ideal for polar orbits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sites clustered for ISS/GEO missions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160520"/>
            <a:ext cx="85496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44622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6032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~20km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560320" y="44622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Coast Dist.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44622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6656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66560" y="44622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Coastline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 —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Launch Records Dashboard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795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20040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9786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🔽  Select Launch Site: ALL SITES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1554480"/>
          <a:ext cx="3474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114800" y="1188720"/>
            <a:ext cx="438912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60520" y="119786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 Payload Mass Range: 0 – 10,000 KG ⟶</a:t>
            </a:r>
            <a:endParaRPr lang="en-US" sz="85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4023360" y="1554480"/>
          <a:ext cx="45720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Classification Results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394960" y="777240"/>
          <a:ext cx="34290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292608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11480" y="29992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Decision Tree — Confusion Matrix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337560"/>
          <a:ext cx="4754880" cy="13716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Crash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 ✓ 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✗ FN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Crash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✗ FP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✓ TN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394960" y="2926080"/>
            <a:ext cx="342900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5486400" y="299923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 (GridSearchCV)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48640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713232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C=0.01, solver=saga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486400" y="36850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7132320" y="36850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C=1.0, kernel=rbf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5486400" y="4032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7132320" y="4032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max_depth=3, criterion=gini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486400" y="43799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7132320" y="43799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n_neighbors=7, metric=minkowski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64592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73152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137160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36576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109728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64008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384048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320040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438912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347472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4114800"/>
            <a:ext cx="45720" cy="4572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4320"/>
            <a:ext cx="73152" cy="4572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94360" y="960120"/>
            <a:ext cx="7955280" cy="566928"/>
          </a:xfrm>
          <a:prstGeom prst="rect">
            <a:avLst/>
          </a:prstGeom>
          <a:solidFill>
            <a:srgbClr val="1B2A40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97840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987552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classifiers achieved 83.3% test accuracy — Decision Tree showed best CV at 87.5%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618488"/>
            <a:ext cx="7955280" cy="566928"/>
          </a:xfrm>
          <a:prstGeom prst="rect">
            <a:avLst/>
          </a:prstGeom>
          <a:solidFill>
            <a:srgbClr val="1B2A40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163677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1645920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site, orbit type, and payload mass are the strongest predictors of landing success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2276856"/>
            <a:ext cx="7955280" cy="566928"/>
          </a:xfrm>
          <a:prstGeom prst="rect">
            <a:avLst/>
          </a:prstGeom>
          <a:solidFill>
            <a:srgbClr val="1B2A40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2951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2304288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improved from ~0% in 2010 to ~93% by 2020 — clear technology maturation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2935224"/>
            <a:ext cx="7955280" cy="566928"/>
          </a:xfrm>
          <a:prstGeom prst="rect">
            <a:avLst/>
          </a:prstGeom>
          <a:solidFill>
            <a:srgbClr val="1B2A40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95351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2962656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 confirmed all sites are strategically located for recovery operations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3593592"/>
            <a:ext cx="7955280" cy="566928"/>
          </a:xfrm>
          <a:prstGeom prst="rect">
            <a:avLst/>
          </a:prstGeom>
          <a:solidFill>
            <a:srgbClr val="1B2A40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61188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4440" y="3621024"/>
            <a:ext cx="7132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boosters cost 62% less — accurate prediction directly enables competitive bidding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908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Deep learning models, real-time API integration, weather data, and crew mission cost prediction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Landing Prediction</dc:title>
  <dc:subject>PptxGenJS Presentation</dc:subject>
  <dc:creator>Data Science Capstone</dc:creator>
  <cp:lastModifiedBy>Data Science Capstone</cp:lastModifiedBy>
  <cp:revision>1</cp:revision>
  <dcterms:created xsi:type="dcterms:W3CDTF">2026-05-20T19:05:10Z</dcterms:created>
  <dcterms:modified xsi:type="dcterms:W3CDTF">2026-05-20T19:05:10Z</dcterms:modified>
</cp:coreProperties>
</file>